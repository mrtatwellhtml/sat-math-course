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hand back the marked paper yet. Keep it face down until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in these words. The reframe is the whole point of the first ten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him work at it. Do not tell him. When he spots the negative numbers, that is the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Let it land before moving to the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 marked paper back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number line before you state the rule. The picture is what he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the bracket line for the rest of the course. This is the single highest-value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nothing unless he has been stuck for ninety seconds. This is the most valuable block of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 Error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mistake. Seven questions.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Math  ·  Session 2  ·  27 September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 give you the score,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want to show you something.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these four have in common?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536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20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passes through (2, −1) and (6, 7).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slope?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71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put 3.   The answer is 2.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536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202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3x² − x.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f(−2)?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971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put 12.   The answer is 14.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58768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023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inequality gives all x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which 5 − 2x ≥ 11?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458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put x ≥ 3.   The answer is x ≤ −3.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858768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4023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(x − 3)² − 4 crosses the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at which two points?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458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put −1 and 5.   The answer is 1 and 5.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one of them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a negative number in it.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347472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37947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four mistakes. It is one mistake, four times.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4348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whole paper it happened seven times — questions 2, 4, 6, 11, 14, 15 and 19.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diagnostic, in three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right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31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starting point, not a zero.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28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this one thing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931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fixable. Today.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828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72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32461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everything else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931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work through these week by week.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seventeen problems away from a better score. You are closer to three — and one of them is much bigger than the others.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places a sign goes wrong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57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minutes. Then you do them.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84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Subtracting a negative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asked for the slope through (2, −1) and (6, 7).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05840" y="3154680"/>
            <a:ext cx="6035040" cy="0"/>
          </a:xfrm>
          <a:prstGeom prst="line">
            <a:avLst/>
          </a:prstGeom>
          <a:noFill/>
          <a:ln w="19050">
            <a:solidFill>
              <a:srgbClr val="6B7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081528"/>
            <a:ext cx="0" cy="146304"/>
          </a:xfrm>
          <a:prstGeom prst="line">
            <a:avLst/>
          </a:prstGeom>
          <a:noFill/>
          <a:ln w="12700">
            <a:solidFill>
              <a:srgbClr val="6B7C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60220" y="3081528"/>
            <a:ext cx="0" cy="146304"/>
          </a:xfrm>
          <a:prstGeom prst="line">
            <a:avLst/>
          </a:prstGeom>
          <a:noFill/>
          <a:ln w="12700">
            <a:solidFill>
              <a:srgbClr val="6B7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3162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14600" y="3081528"/>
            <a:ext cx="0" cy="146304"/>
          </a:xfrm>
          <a:prstGeom prst="line">
            <a:avLst/>
          </a:prstGeom>
          <a:noFill/>
          <a:ln w="12700">
            <a:solidFill>
              <a:srgbClr val="6B7C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68980" y="3081528"/>
            <a:ext cx="0" cy="146304"/>
          </a:xfrm>
          <a:prstGeom prst="line">
            <a:avLst/>
          </a:prstGeom>
          <a:noFill/>
          <a:ln w="12700">
            <a:solidFill>
              <a:srgbClr val="6B7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4038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3081528"/>
            <a:ext cx="0" cy="146304"/>
          </a:xfrm>
          <a:prstGeom prst="line">
            <a:avLst/>
          </a:prstGeom>
          <a:noFill/>
          <a:ln w="12700">
            <a:solidFill>
              <a:srgbClr val="6B7C8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476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77740" y="3081528"/>
            <a:ext cx="0" cy="146304"/>
          </a:xfrm>
          <a:prstGeom prst="line">
            <a:avLst/>
          </a:prstGeom>
          <a:noFill/>
          <a:ln w="12700">
            <a:solidFill>
              <a:srgbClr val="6B7C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4914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0" y="3081528"/>
            <a:ext cx="0" cy="146304"/>
          </a:xfrm>
          <a:prstGeom prst="line">
            <a:avLst/>
          </a:prstGeom>
          <a:noFill/>
          <a:ln w="12700">
            <a:solidFill>
              <a:srgbClr val="6B7C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86500" y="3081528"/>
            <a:ext cx="0" cy="146304"/>
          </a:xfrm>
          <a:prstGeom prst="line">
            <a:avLst/>
          </a:prstGeom>
          <a:noFill/>
          <a:ln w="12700">
            <a:solidFill>
              <a:srgbClr val="6B7C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790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3081528"/>
            <a:ext cx="0" cy="146304"/>
          </a:xfrm>
          <a:prstGeom prst="line">
            <a:avLst/>
          </a:prstGeom>
          <a:noFill/>
          <a:ln w="12700">
            <a:solidFill>
              <a:srgbClr val="6B7C8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" y="2606040"/>
            <a:ext cx="6035040" cy="0"/>
          </a:xfrm>
          <a:prstGeom prst="line">
            <a:avLst/>
          </a:prstGeom>
          <a:noFill/>
          <a:ln w="31750">
            <a:solidFill>
              <a:srgbClr val="1D7A4C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291840" y="2130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steps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0" y="178308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7 − (−1)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2651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distance from −1 up to 7.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8,  not 6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640080" y="48006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156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minus signs meeting make a plus.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54681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slope is 8 ÷ 4 = 2.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84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Distributing a negative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asked for (x + 5)(x − 3).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48716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− 3x + 5x − 15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x² − 2x − 15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should be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8716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−3x + 5x  =  +2x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x² + 2x − 15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four products out loud before you write any of them.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474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 multiplies both terms. The error is applying it to one and forgetting the other.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84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Squaring and multiplying a negative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asked for f(−2) when f(x) = 3x² − x.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Substitute, in brackets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92938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3(−2)² − (−2)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127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powers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04495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3(4) − (−2)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10881360" cy="932688"/>
          </a:xfrm>
          <a:prstGeom prst="roundRect">
            <a:avLst>
              <a:gd name="adj" fmla="val 9804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2428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signs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41605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+ 2  =  14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4355A"/>
          </a:solidFill>
          <a:ln w="12700">
            <a:solidFill>
              <a:srgbClr val="1435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440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lost the second minus sign because you skipped the first line.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84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an inequality by a negative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sign flip? Watch what happens to something you know is true.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&lt;  4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16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94760" y="2697480"/>
            <a:ext cx="731520" cy="0"/>
          </a:xfrm>
          <a:prstGeom prst="line">
            <a:avLst/>
          </a:prstGeom>
          <a:noFill/>
          <a:ln w="1905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657600" y="2240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(−1)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92024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  &lt;  −4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16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26680" y="2697480"/>
            <a:ext cx="731520" cy="0"/>
          </a:xfrm>
          <a:prstGeom prst="line">
            <a:avLst/>
          </a:prstGeom>
          <a:noFill/>
          <a:ln w="1905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589520" y="22402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flip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192024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3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  &gt;  −4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281635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again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or dividing by a negative turns the sign around.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5720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14:   5 − 2x ≥ 11   →   −2x ≥ 6   →   x ≤ −3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193792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it: put x = 4 into 5 − 2x ≥ 11 and you get −3 ≥ 11, which is false. Your answer said x ≥ 3, so it refuted itself in one line.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one thing: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substitution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brackets.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80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f(−2)  =  3(−2)² − (−2)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20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these six from your diagnostic. Brackets on every substitution.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514600" y="205740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14600" y="20574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389120" y="205740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89120" y="20574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0574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8138160" y="205740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20574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10012680" y="205740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1F4E7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12680" y="20574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think you have one right, do not ask me. Ask yourself how you could check it.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85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Question 19 — the absolute value one. It is the hardest of the family.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57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of your seventeen would not have survived thirty seconds of this.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84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your answer back 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45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57276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≥ 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2542032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8163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value it allows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743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3712464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98678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the question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391363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5 − 2(4)  =  −3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" y="4882896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EAF5EE"/>
          </a:solidFill>
          <a:ln w="12700">
            <a:solidFill>
              <a:srgbClr val="EAF5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515721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−3 ≥ 11?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508406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 So the answer is wrong.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seconds. No new mathematics.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8463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389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Ask: could that be true?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your answers could not possibly have been right, and you did not need to do any maths to see 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29000" cy="2697480"/>
          </a:xfrm>
          <a:prstGeom prst="roundRect">
            <a:avLst>
              <a:gd name="adj" fmla="val 33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45059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Legs of 9 and 12.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put 0.013.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side cannot be smaller than the short 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429000" cy="2697480"/>
          </a:xfrm>
          <a:prstGeom prst="roundRect">
            <a:avLst>
              <a:gd name="adj" fmla="val 33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45059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of 45 walkers.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put a probability of 1.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probability of 1 means all of them.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429000" cy="2697480"/>
          </a:xfrm>
          <a:prstGeom prst="roundRect">
            <a:avLst>
              <a:gd name="adj" fmla="val 3390"/>
            </a:avLst>
          </a:prstGeom>
          <a:solidFill>
            <a:srgbClr val="EAF0F6"/>
          </a:solidFill>
          <a:ln w="12700">
            <a:solidFill>
              <a:srgbClr val="D7E2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2752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245059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3, height 10.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put 60π.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D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alone is 9π, and it is 10 tall.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983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move on, look at your answer and ask whether it is a sensible size.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sittings. Not one long one.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1965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arithmetic. No calculator.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0" y="1965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834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834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B, 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Substitution, and the four traps.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703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that be true?"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572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572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mixed questions, timed.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4572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sheet and your error log next Sunday.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5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of them were one mistake.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know how to fix it.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substitution gets brackets.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Sign Error - Session 2</dc:title>
  <dc:subject>PptxGenJS Presentation</dc:subject>
  <dc:creator>SAT Math: Foundations to Mastery</dc:creator>
  <cp:lastModifiedBy>SAT Math: Foundations to Mastery</cp:lastModifiedBy>
  <cp:revision>1</cp:revision>
  <dcterms:created xsi:type="dcterms:W3CDTF">2026-09-26T12:55:30Z</dcterms:created>
  <dcterms:modified xsi:type="dcterms:W3CDTF">2026-09-26T12:55:30Z</dcterms:modified>
</cp:coreProperties>
</file>
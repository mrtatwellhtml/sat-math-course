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Spend real time on the last row. It is the one most students have never been shown.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this live with Bluebook open. Do not describe it — show it, then make him do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him check the mirror condition first. Adding 4x+3y and 2x+5y gives 6x+8y, which is NOT a multiple of x+y — the shortcut only exists when the two coefficients swap.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re-teach the flip. Ask him for it. Re-using what he knows is what makes it stick.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 (1.5-e-01) answer: 3  —  The first equation already gives y on its own, so substitution costs the least work. Replace y in the second equation: 3x + (2x − 1) = 14. Then 5x − 1 = 14, so 5x = 15 and x = 3. Check: y = 2(3) − 1 = 5, and 3(3) + 5 = 14.
Q2 (1.5-m-02) answer: C) 5  —  Multiply the first equation by 2 to match the y − coefficients as opposites: 6x + 4y = 38. Adding 5x − 4y = −5 gives 11x = 33, so x = 3. Substituting into the first equation: 3(3) + 2y = 19, so 2y = 10 and y = 5. Check: 5(3) − 4(5) = 15 − 20 = −5.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 (1.5-e-07) answer: 6  —  The coefficients are symmetric: the x − coefficients are 4 and 7 and the y − coefficients are 7 and 4, so 4 + 7 = 7 + 4 = 11. Adding the two equations as they stand gives 11x + 11y = 66, which is 11(x + y) = 66, so x + y = 6. No need to find x and y separately.
Q2 (1.5-m-05) answer: 7  —  The coefficients are symmetric: 11 + (−3) = −3 + 11 = 8, so adding the equations as they stand gives a multiple of x + y. Adding: 8x + 8y = 7 + 49 = 56, which is 8(x + y) = 56, so x + y = 7. (Solving fully gives x = 2 and y = 5, which agrees.)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 (1.6-m-01) answer: D) x &gt; −3  —  Subtract 4 from both sides: −7x &lt; 21. Divide by − 7 and reverse the direction: x &gt; −3. Test x = −2: 4 − 7(−2) = 18 &lt; 25, true. Test x = −4: 4 − 7(−4) = 32 &lt; 25, false. The solution is x &gt; −3.
Q2 (1.6-e-02) answer: 5  —  Add 7 to both sides: 5x ≤ 25. Divide by 5, a positive number, so the direction is unchanged: x ≤ 5. The greatest allowed value is 5. Test x = 5: 5(5) − 7 = 18 ≤ 18, true. Test x = 5.1: 5(5.1) − 7 = 18.5 ≤ 18, false.
Q3 (1.6-m-03) answer: A) x &lt; −7  —  Distribute: 3x − 12 &gt; 5x + 2. Subtract 5x and add 12 to both sides: −2x &gt; 14. Divide by − 2 and reverse the direction: x &lt; −7. Test x = −8: 3(−12) = −36 and 5(−8) + 2 = −38, and − 36 &gt; −38, true. Test x = −6: 3(−10) = −30 and − 28, and − 30 &gt; −28, false.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5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51660"/>
            <a:ext cx="98755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Systems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Inequalities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3766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before you solve.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852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 Math  ·  Session 3  ·  11 October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Warm-up — eight minutes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from the week before last, two from last week.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9202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59152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−4 − (−9)  =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429000" y="173736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57600" y="19202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2359152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g(x) = x² − 5x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g(−2).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0" y="173736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19202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359152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through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(−1, 4) and (3, −4)?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9006840" y="173736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35440" y="19202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235440" y="2359152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 = 250 + 12w,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250 mean?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0080" y="548640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56692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threads still running. Neither gets dropped because we moved on.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35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28600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to solve a system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840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three seconds that decide which one.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 at it before you touch it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students start substituting on reflex and meet ugly fractions a minute later.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685800"/>
          </a:xfrm>
          <a:prstGeom prst="roundRect">
            <a:avLst>
              <a:gd name="adj" fmla="val 13333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764792"/>
            <a:ext cx="51206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 is already alone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764792"/>
            <a:ext cx="48463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Substitute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10881360" cy="685800"/>
          </a:xfrm>
          <a:prstGeom prst="roundRect">
            <a:avLst>
              <a:gd name="adj" fmla="val 13333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2542032"/>
            <a:ext cx="51206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Coefficients match, or are opposites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2542032"/>
            <a:ext cx="48463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Eliminate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" y="3246120"/>
            <a:ext cx="10881360" cy="685800"/>
          </a:xfrm>
          <a:prstGeom prst="roundRect">
            <a:avLst>
              <a:gd name="adj" fmla="val 13333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3319272"/>
            <a:ext cx="51206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Neither, and the numbers are ugly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3319272"/>
            <a:ext cx="48463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it on Desmos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0080" y="4023360"/>
            <a:ext cx="10881360" cy="685800"/>
          </a:xfrm>
          <a:prstGeom prst="roundRect">
            <a:avLst>
              <a:gd name="adj" fmla="val 13333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0120" y="4096512"/>
            <a:ext cx="51206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asks only for x + y, or 2x − y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4096512"/>
            <a:ext cx="48463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7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or subtract, then stop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0080" y="548640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56692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choice is the lesson. The algebra after it is the part you can already do.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93776"/>
            <a:ext cx="502920" cy="50292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937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47548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Substitute — when a variable is already alone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801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2x − 1   and   3x + y = 14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10881360" cy="651510"/>
          </a:xfrm>
          <a:prstGeom prst="roundRect">
            <a:avLst>
              <a:gd name="adj" fmla="val 14035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1901952"/>
            <a:ext cx="4937760" cy="505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is already by itself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901952"/>
            <a:ext cx="5029200" cy="505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 2x − 1 where y was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571750"/>
            <a:ext cx="10881360" cy="651510"/>
          </a:xfrm>
          <a:prstGeom prst="roundRect">
            <a:avLst>
              <a:gd name="adj" fmla="val 14035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2644902"/>
            <a:ext cx="4937760" cy="505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equation, one letter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2644902"/>
            <a:ext cx="5029200" cy="505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3x + (2x − 1) = 14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314700"/>
            <a:ext cx="10881360" cy="651510"/>
          </a:xfrm>
          <a:prstGeom prst="roundRect">
            <a:avLst>
              <a:gd name="adj" fmla="val 14035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3387852"/>
            <a:ext cx="4937760" cy="505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3387852"/>
            <a:ext cx="5029200" cy="505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5x = 15,  so x = 3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4057650"/>
            <a:ext cx="10881360" cy="651510"/>
          </a:xfrm>
          <a:prstGeom prst="roundRect">
            <a:avLst>
              <a:gd name="adj" fmla="val 14035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0120" y="4130802"/>
            <a:ext cx="4937760" cy="505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Back-substitute for the other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126480" y="4130802"/>
            <a:ext cx="5029200" cy="505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7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2(3) − 1 = 5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" y="548640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51560" y="56692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Brackets round what you substitute. Every time, exactly as last fortnight.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93776"/>
            <a:ext cx="502920" cy="50292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937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47548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Eliminate — when the coefficients line up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801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2x + 3y = 12   and   x − y = 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10881360" cy="838200"/>
          </a:xfrm>
          <a:prstGeom prst="roundRect">
            <a:avLst>
              <a:gd name="adj" fmla="val 10909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1901952"/>
            <a:ext cx="4937760" cy="691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one pair match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901952"/>
            <a:ext cx="5029200" cy="691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double the second:  2x − 2y = 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40080" y="2849880"/>
            <a:ext cx="10881360" cy="838200"/>
          </a:xfrm>
          <a:prstGeom prst="roundRect">
            <a:avLst>
              <a:gd name="adj" fmla="val 10909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2923032"/>
            <a:ext cx="4937760" cy="691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 to kill the x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2923032"/>
            <a:ext cx="5029200" cy="691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5y = 10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0080" y="3870960"/>
            <a:ext cx="10881360" cy="838200"/>
          </a:xfrm>
          <a:prstGeom prst="roundRect">
            <a:avLst>
              <a:gd name="adj" fmla="val 10909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3944112"/>
            <a:ext cx="4937760" cy="691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3944112"/>
            <a:ext cx="5029200" cy="691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7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2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40080" y="512064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51560" y="53035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diagnostic question 8. You put 3.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5815584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Subtracting equations is where a sign goes missing. Write the second row out in full before you subtract it.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93776"/>
            <a:ext cx="502920" cy="50292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937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47548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it — when the numbers are ugly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801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7x + 4y = 51   and   3x − 5y = −8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3444240" cy="1901220"/>
          </a:xfrm>
          <a:prstGeom prst="roundRect">
            <a:avLst>
              <a:gd name="adj" fmla="val 4810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057400"/>
            <a:ext cx="298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496312"/>
            <a:ext cx="2987040" cy="1032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both equations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Desmos exactly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they are written.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rearranging.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58640" y="1874520"/>
            <a:ext cx="3444240" cy="1901220"/>
          </a:xfrm>
          <a:prstGeom prst="roundRect">
            <a:avLst>
              <a:gd name="adj" fmla="val 4810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87240" y="2057400"/>
            <a:ext cx="298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87240" y="2496312"/>
            <a:ext cx="2987040" cy="1032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where the two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cross. Desmos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the point.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77200" y="1874520"/>
            <a:ext cx="3444240" cy="1901220"/>
          </a:xfrm>
          <a:prstGeom prst="roundRect">
            <a:avLst>
              <a:gd name="adj" fmla="val 4810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05800" y="2057400"/>
            <a:ext cx="298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305800" y="2496312"/>
            <a:ext cx="2987040" cy="1032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point is (x, y).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answer.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512064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51560" y="53035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twelve seconds, against two minutes of elimination with those coefficients.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5815584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calculator is built into the test app and it is available on every single question.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they do not ask for x or 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3x + 5y = 17   and   5x + 3y = 23.   What is x + y?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166360" cy="2161642"/>
          </a:xfrm>
          <a:prstGeom prst="roundRect">
            <a:avLst>
              <a:gd name="adj" fmla="val 4230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96596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LONG WAY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04872"/>
            <a:ext cx="4709160" cy="1292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to find x.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Back-substitute for 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them together.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two minutes.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55080" y="1783080"/>
            <a:ext cx="5166360" cy="2161642"/>
          </a:xfrm>
          <a:prstGeom prst="roundRect">
            <a:avLst>
              <a:gd name="adj" fmla="val 4230"/>
            </a:avLst>
          </a:prstGeom>
          <a:solidFill>
            <a:srgbClr val="EAF5EE"/>
          </a:solidFill>
          <a:ln w="12700">
            <a:solidFill>
              <a:srgbClr val="EAF5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0" y="196596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D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WANTED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404872"/>
            <a:ext cx="4709160" cy="1292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two equations: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8x + 8y = 40.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by 8:  x + y = 5.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never find x or y.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512064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53035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works because the coefficients are mirrored: 3 and 5, then 5 and 3.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5815584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gives 8x + 8y, the same number of each, which is why it collapses to x + y. Check that before you reach for it.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the shortcut is not there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trap is reaching for it when the coefficients do not mirror.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856488"/>
          </a:xfrm>
          <a:prstGeom prst="roundRect">
            <a:avLst>
              <a:gd name="adj" fmla="val 10676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810512"/>
            <a:ext cx="5120640" cy="710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 + 5y = 17  and  5x + 3y = 23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810512"/>
            <a:ext cx="4846320" cy="710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7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gives 8x + 8y.  Mirrored, so x + y works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2795016"/>
            <a:ext cx="10881360" cy="856488"/>
          </a:xfrm>
          <a:prstGeom prst="roundRect">
            <a:avLst>
              <a:gd name="adj" fmla="val 10676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2868168"/>
            <a:ext cx="5120640" cy="710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 + 3y = 19  and  2x + 5y = 13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2868168"/>
            <a:ext cx="4846320" cy="710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gives 6x + 8y.  Not mirrored, no shortcut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40080" y="3852672"/>
            <a:ext cx="10881360" cy="856488"/>
          </a:xfrm>
          <a:prstGeom prst="roundRect">
            <a:avLst>
              <a:gd name="adj" fmla="val 10676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3925824"/>
            <a:ext cx="5120640" cy="710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11x − 3y = 7  and  −3x + 11y = 49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3925824"/>
            <a:ext cx="4846320" cy="710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7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gives 8x + 8y.  Mirrored, x + y works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40080" y="512064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53035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x-coefficients, add the y-coefficients. Equal? The shortcut is there.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5815584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equal? Solve the system properly — there is nothing to save.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there is no answer, or every answer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166360" cy="2422063"/>
          </a:xfrm>
          <a:prstGeom prst="roundRect">
            <a:avLst>
              <a:gd name="adj" fmla="val 3775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55448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— NO SOLUTION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993392"/>
            <a:ext cx="4709160" cy="1553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slope, different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lines never meet,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there is nothing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satisfies both.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55080" y="1371600"/>
            <a:ext cx="5166360" cy="2422063"/>
          </a:xfrm>
          <a:prstGeom prst="roundRect">
            <a:avLst>
              <a:gd name="adj" fmla="val 3775"/>
            </a:avLst>
          </a:prstGeom>
          <a:solidFill>
            <a:srgbClr val="EAF5EE"/>
          </a:solidFill>
          <a:ln w="12700">
            <a:solidFill>
              <a:srgbClr val="EAF5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0" y="155448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D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— EVERY SOLUTION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1993392"/>
            <a:ext cx="4709160" cy="1553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slope, same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drawn twice.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point on it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512064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53035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 the two lines before you reach for the coefficient test.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5815584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pressure you will recall the picture. You will not recall the condition.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35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28600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Inequalities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840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already know, with one difference.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 it exactly like an equation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one exception, which you already met.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871728"/>
          </a:xfrm>
          <a:prstGeom prst="roundRect">
            <a:avLst>
              <a:gd name="adj" fmla="val 10490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764792"/>
            <a:ext cx="5120640" cy="72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or subtract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764792"/>
            <a:ext cx="4846320" cy="72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D7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 stays as it is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40080" y="2764536"/>
            <a:ext cx="10881360" cy="871728"/>
          </a:xfrm>
          <a:prstGeom prst="roundRect">
            <a:avLst>
              <a:gd name="adj" fmla="val 10490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2837688"/>
            <a:ext cx="5120640" cy="72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or divide by a positive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2837688"/>
            <a:ext cx="4846320" cy="72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D7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 stays as it is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40080" y="3837432"/>
            <a:ext cx="10881360" cy="871728"/>
          </a:xfrm>
          <a:prstGeom prst="roundRect">
            <a:avLst>
              <a:gd name="adj" fmla="val 10490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3910584"/>
            <a:ext cx="5120640" cy="72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or divide by a NEGATIVE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3910584"/>
            <a:ext cx="4846320" cy="72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sign turns around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640080" y="512064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53035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already do this. Tell me the rule rather than me telling you.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5815584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check it: pick a value your answer allows and put it back into the question.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words that cost the marks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594360"/>
          </a:xfrm>
          <a:prstGeom prst="roundRect">
            <a:avLst>
              <a:gd name="adj" fmla="val 15385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444752"/>
            <a:ext cx="45720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12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760720" y="1444752"/>
            <a:ext cx="53949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≥ 12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10881360" cy="594360"/>
          </a:xfrm>
          <a:prstGeom prst="roundRect">
            <a:avLst>
              <a:gd name="adj" fmla="val 15385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130552"/>
            <a:ext cx="45720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than 12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760720" y="2130552"/>
            <a:ext cx="53949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≤ 12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743200"/>
            <a:ext cx="10881360" cy="594360"/>
          </a:xfrm>
          <a:prstGeom prst="roundRect">
            <a:avLst>
              <a:gd name="adj" fmla="val 15385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2816352"/>
            <a:ext cx="45720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12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760720" y="2816352"/>
            <a:ext cx="53949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&gt; 12   — not ≥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429000"/>
            <a:ext cx="10881360" cy="594360"/>
          </a:xfrm>
          <a:prstGeom prst="roundRect">
            <a:avLst>
              <a:gd name="adj" fmla="val 15385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3502152"/>
            <a:ext cx="45720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than 12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760720" y="3502152"/>
            <a:ext cx="53949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&lt; 12   — not ≤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114800"/>
            <a:ext cx="10881360" cy="594360"/>
          </a:xfrm>
          <a:prstGeom prst="roundRect">
            <a:avLst>
              <a:gd name="adj" fmla="val 15385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0120" y="4187952"/>
            <a:ext cx="45720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5 and 12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760720" y="4187952"/>
            <a:ext cx="53949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&lt; x &lt; 12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512064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51560" y="53035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lose more marks than the algebra does.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5815584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"At least" and "no more than" include the number. "More than" and "fewer than" do not.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— systems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method before you solve.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03520" cy="2557760"/>
          </a:xfrm>
          <a:prstGeom prst="roundRect">
            <a:avLst>
              <a:gd name="adj" fmla="val 3575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856232"/>
            <a:ext cx="479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  ·  WRITE YOUR ANSWER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240280"/>
            <a:ext cx="4791456" cy="623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system y = 2x − 1 and 3x + y = 14, what is the value of x?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17920" y="1691640"/>
            <a:ext cx="5303520" cy="2557760"/>
          </a:xfrm>
          <a:prstGeom prst="roundRect">
            <a:avLst>
              <a:gd name="adj" fmla="val 3575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73952" y="1856232"/>
            <a:ext cx="479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73952" y="2240280"/>
            <a:ext cx="4791456" cy="623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3x + 2y = 19 and 5x − 4y = −5 has solution (x,y). What is the value of y?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73952" y="2973995"/>
            <a:ext cx="4791456" cy="1046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−5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3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5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8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512064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51560" y="53035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them on paper first. Then we check together.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5815584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and full solutions are in the speaker notes for this slide.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— spot the shortcut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of these ask for a combination.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03520" cy="1758940"/>
          </a:xfrm>
          <a:prstGeom prst="roundRect">
            <a:avLst>
              <a:gd name="adj" fmla="val 5199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856232"/>
            <a:ext cx="479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  ·  WRITE YOUR ANSWER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240280"/>
            <a:ext cx="4791456" cy="623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4x + 7y = 31 and 7x + 4y = 35, what is the value of x + y?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17920" y="1691640"/>
            <a:ext cx="5303520" cy="1758940"/>
          </a:xfrm>
          <a:prstGeom prst="roundRect">
            <a:avLst>
              <a:gd name="adj" fmla="val 5199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73952" y="1856232"/>
            <a:ext cx="479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  ·  WRITE YOUR ANSWER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73952" y="2240280"/>
            <a:ext cx="4791456" cy="623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11x − 3y = 7 and − 3x + 11y = 49, what is the value of x + y?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512064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53035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them on paper first. Then we check together.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5815584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and full solutions are in the speaker notes for this slide.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— inequalities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of these need the flip.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44240" cy="2591044"/>
          </a:xfrm>
          <a:prstGeom prst="roundRect">
            <a:avLst>
              <a:gd name="adj" fmla="val 3529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856232"/>
            <a:ext cx="293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240280"/>
            <a:ext cx="2932176" cy="557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 following describes all values of x for which 4 − 7x &lt; 25?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907426"/>
            <a:ext cx="2932176" cy="1146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x &lt; −3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x &lt; 3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x &gt; 3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x &gt; −3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58640" y="1691640"/>
            <a:ext cx="3444240" cy="2591044"/>
          </a:xfrm>
          <a:prstGeom prst="roundRect">
            <a:avLst>
              <a:gd name="adj" fmla="val 3529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14672" y="1856232"/>
            <a:ext cx="293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  ·  WRITE YOUR ANSWER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614672" y="2240280"/>
            <a:ext cx="2932176" cy="557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greatest value of x that satisfies 5x − 7 ≤ 18?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77200" y="1691640"/>
            <a:ext cx="3444240" cy="2591044"/>
          </a:xfrm>
          <a:prstGeom prst="roundRect">
            <a:avLst>
              <a:gd name="adj" fmla="val 3529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33232" y="1856232"/>
            <a:ext cx="293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333232" y="2240280"/>
            <a:ext cx="2932176" cy="790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 following describes all values of x for which 3(x − 4) &gt; 5x + 2?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333232" y="3140415"/>
            <a:ext cx="2932176" cy="913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x &lt; −7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x &gt; −7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x &lt; −3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x &gt; 7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512064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51560" y="53035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them on paper first. Then we check together.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5815584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and full solutions are in the speaker notes for this slide.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20 minutes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Bluebook open. For every system, write down which method you chose before you solve it.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44240" cy="1640799"/>
          </a:xfrm>
          <a:prstGeom prst="roundRect">
            <a:avLst>
              <a:gd name="adj" fmla="val 5573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011680"/>
            <a:ext cx="298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SYSTEMS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50592"/>
            <a:ext cx="2987040" cy="772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each kind.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method first,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solve it.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58640" y="1828800"/>
            <a:ext cx="3444240" cy="1640799"/>
          </a:xfrm>
          <a:prstGeom prst="roundRect">
            <a:avLst>
              <a:gd name="adj" fmla="val 5573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87240" y="2011680"/>
            <a:ext cx="298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INEQUALITIES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87240" y="2450592"/>
            <a:ext cx="2987040" cy="772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need the flip.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each answer by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a value back in.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77200" y="1828800"/>
            <a:ext cx="3444240" cy="1640799"/>
          </a:xfrm>
          <a:prstGeom prst="roundRect">
            <a:avLst>
              <a:gd name="adj" fmla="val 5573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05800" y="2011680"/>
            <a:ext cx="298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SETUPS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305800" y="2450592"/>
            <a:ext cx="2987040" cy="772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two equations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words. Do not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them.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512064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53035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the method is not busywork. It is the part of this lesson worth marks.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5815584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right answer reached the slow way is still a question you may run out of time on.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week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short sittings. Not one long one.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EAF0F6"/>
          </a:solidFill>
          <a:ln w="12700">
            <a:solidFill>
              <a:srgbClr val="EAF0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956816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2788920" y="1956816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1956816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Retention: signs and slope.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058400" y="1956816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72491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294436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Tuesday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2788920" y="294436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294436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the system, and name the method.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0" y="294436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3712464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EAF0F6"/>
          </a:solidFill>
          <a:ln w="12700">
            <a:solidFill>
              <a:srgbClr val="EAF0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0120" y="3931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Thursday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2788920" y="39319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480560" y="39319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Inequalities, including translation.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0" y="39319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" y="470001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0120" y="491947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2788920" y="491947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D, 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480560" y="491947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system from words; six mixed, timed.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0" y="491947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min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the sheet and your error log next Sunday.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35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92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seconds of looking.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61488"/>
            <a:ext cx="1088136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the cheapest route,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the first one.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69087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read what the question actually asks for.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Systems and Inequalities - Session 3</dc:title>
  <dc:subject>PptxGenJS Presentation</dc:subject>
  <dc:creator>SAT Math: Foundations to Mastery</dc:creator>
  <cp:lastModifiedBy>SAT Math: Foundations to Mastery</cp:lastModifiedBy>
  <cp:revision>1</cp:revision>
  <dcterms:created xsi:type="dcterms:W3CDTF">2026-10-11T23:08:43Z</dcterms:created>
  <dcterms:modified xsi:type="dcterms:W3CDTF">2026-10-11T23:08:43Z</dcterms:modified>
</cp:coreProperties>
</file>